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UDM Pipeline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CData with a Pipeline We 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Team  |  March 2026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3840480"/>
            <a:ext cx="502920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840480"/>
            <a:ext cx="502920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840480"/>
            <a:ext cx="502920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84048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We're Solving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3840480" cy="50292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1704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170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Today: CData (Black Box)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17830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cost we can't control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layer — no visibility into how data moves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CDC — can't detect what actually changed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SCD2 — no historical tracking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error handling &amp; recovery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End-of-life approaching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97280"/>
            <a:ext cx="3840480" cy="502920"/>
          </a:xfrm>
          <a:prstGeom prst="rect">
            <a:avLst/>
          </a:prstGeom>
          <a:solidFill>
            <a:srgbClr val="DCFCE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1704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1704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New: Python Pipeline (We Own It)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029200" y="17830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licensing cost — fully open-source stack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visibility into every step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CDC — deterministic change detection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SCD2 history in Bronze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recovery, retry, locking built in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control the code, the logic, the schedule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Rust and Python for speed at billion-row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3.12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orchestration, config, error handling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002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Polars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474720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DataFrame engine. Lazy eval, handles 3B+ rows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035040" y="141732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0020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20840" y="15819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ConnectorX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217920" y="20574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extraction. 10-20x faster than ODBC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288036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632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044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BCP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3152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SQL Server bulk load. 100K+ rows/sec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291840" y="288036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30632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977640" y="3044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SHA-256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347472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row hashing via polars-hash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035040" y="2880360"/>
            <a:ext cx="2468880" cy="123444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0632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20840" y="30449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 Hat Linux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217920" y="35204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CPU / 46 GB RAM production server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rgbClr val="0B3D36"/>
          </a:solidFill>
          <a:ln/>
        </p:spPr>
      </p:sp>
      <p:sp>
        <p:nvSpPr>
          <p:cNvPr id="29" name="Text 21"/>
          <p:cNvSpPr/>
          <p:nvPr/>
        </p:nvSpPr>
        <p:spPr>
          <a:xfrm>
            <a:off x="822960" y="413308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Rust-based tools? Python alone can't process 3B rows in-memory. Polars + ConnectorX handle the heavy lifting at native speed.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Medallion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1280160"/>
            <a:ext cx="1645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74320" y="1325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Systems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280160" cy="47548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(Oracle)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359152"/>
            <a:ext cx="1280160" cy="47548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5915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(SQL Svr)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1280160" cy="47548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8094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Epicor (SQL Svr)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602736"/>
            <a:ext cx="1280160" cy="475488"/>
          </a:xfrm>
          <a:prstGeom prst="rect">
            <a:avLst/>
          </a:prstGeom>
          <a:solidFill>
            <a:srgbClr val="E0F2FE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602736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965960" y="2743200"/>
            <a:ext cx="457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254203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&gt;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68880" y="155448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68880" y="1554480"/>
            <a:ext cx="1828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UDM_Stage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2011680"/>
            <a:ext cx="1554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Hash-based CDC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Detects: INSERTs,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UPDATEs, DELETEs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anti-join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in Polars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43400" y="2743200"/>
            <a:ext cx="457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54203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155448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554480"/>
            <a:ext cx="182880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UDM_Bronze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011680"/>
            <a:ext cx="1554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SCD Type 2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 history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UdmActiveFlag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UdmEffectiveDateTime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UdmEndDateTime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20840" y="2743200"/>
            <a:ext cx="457200" cy="0"/>
          </a:xfrm>
          <a:prstGeom prst="line">
            <a:avLst/>
          </a:prstGeom>
          <a:noFill/>
          <a:ln w="317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254203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</a:rPr>
              <a:t>&gt;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223760" y="1554480"/>
            <a:ext cx="1645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23760" y="1554480"/>
            <a:ext cx="164592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7223760" y="1554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Silver / Gold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60920" y="2011680"/>
            <a:ext cx="1371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Stored Procs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(Existing, unchanged)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160520"/>
            <a:ext cx="4206240" cy="45720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78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 owns this (new)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663440" y="4160520"/>
            <a:ext cx="4206240" cy="457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4178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procedures own this (unchanged)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CDC: How We Detect Changes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gets a SHA-256 hash. Compare source hashes vs Stage hashes.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60320" cy="210312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56032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in source, not in Stage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2560320"/>
            <a:ext cx="2286000" cy="502920"/>
          </a:xfrm>
          <a:prstGeom prst="rect">
            <a:avLst/>
          </a:prstGeom>
          <a:solidFill>
            <a:srgbClr val="0B3D3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Anti-join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371600"/>
            <a:ext cx="2560320" cy="210312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3716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5448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7764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52044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in both, hash differs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3520440" y="2560320"/>
            <a:ext cx="2286000" cy="502920"/>
          </a:xfrm>
          <a:prstGeom prst="rect">
            <a:avLst/>
          </a:prstGeom>
          <a:solidFill>
            <a:srgbClr val="0B3D36"/>
          </a:solidFill>
          <a:ln/>
        </p:spPr>
      </p:sp>
      <p:sp>
        <p:nvSpPr>
          <p:cNvPr id="17" name="Text 13"/>
          <p:cNvSpPr/>
          <p:nvPr/>
        </p:nvSpPr>
        <p:spPr>
          <a:xfrm>
            <a:off x="352044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 + hash diff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371600"/>
            <a:ext cx="2560320" cy="210312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37160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544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572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DELETEs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355080" y="2057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in Stage, not in source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355080" y="2560320"/>
            <a:ext cx="2286000" cy="502920"/>
          </a:xfrm>
          <a:prstGeom prst="rect">
            <a:avLst/>
          </a:prstGeom>
          <a:solidFill>
            <a:srgbClr val="0B3D36"/>
          </a:solidFill>
          <a:ln/>
        </p:spPr>
      </p:sp>
      <p:sp>
        <p:nvSpPr>
          <p:cNvPr id="24" name="Text 19"/>
          <p:cNvSpPr/>
          <p:nvPr/>
        </p:nvSpPr>
        <p:spPr>
          <a:xfrm>
            <a:off x="6355080" y="2560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anti-join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54864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hash-based, not timestamp-based?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731520" y="4023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identically across Oracle and SQL Server — no ROWVERSION, no triggers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same data always produces the same hash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changes timestamps miss (bulk updates, timezone bugs, manual corrections)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SCD2: How We Track History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97280"/>
            <a:ext cx="64008" cy="13258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70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Row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with Flag =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from now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64008" cy="1325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170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Changed Row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6616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new (active) → UPDATE old (close)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versions kept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097280"/>
            <a:ext cx="64008" cy="1325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1704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Deleted Row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to close active version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preserved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INSERT-First? (Crash Safety)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3154680"/>
            <a:ext cx="3840480" cy="15087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46120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4300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UPDATE-first (conventional)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152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Close old version → 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Insert new version → never happens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ZERO active rows = silent data loss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3154680"/>
            <a:ext cx="3840480" cy="15087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246120"/>
            <a:ext cx="320040" cy="3200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49240" y="3246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INSERT-first (our approach)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937760" y="36576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Insert new version →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Old version still active, orphan auto-cleaned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self-healing, no data loss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Metadata-Driven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table = inserting one config row. No code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0" cy="13716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UdmTablesList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registry: source, extraction routing, small vs large classification, lookback days, custom names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3840480" cy="13716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554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UdmTablesColumnsList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937760" y="21031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metadata: primary key flags, index config, layer tracking (Stage, Bronze)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a New Table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566160"/>
            <a:ext cx="1874520" cy="11430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3566160"/>
            <a:ext cx="18745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1"/>
          <p:cNvSpPr/>
          <p:nvPr/>
        </p:nvSpPr>
        <p:spPr>
          <a:xfrm>
            <a:off x="640080" y="37033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051560" y="37033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row into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UdmTablesList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42316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&gt;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2697480" y="3566160"/>
            <a:ext cx="1874520" cy="11430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697480" y="3566160"/>
            <a:ext cx="18745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6"/>
          <p:cNvSpPr/>
          <p:nvPr/>
        </p:nvSpPr>
        <p:spPr>
          <a:xfrm>
            <a:off x="2788920" y="37033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3200400" y="37033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auto-creates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+ Bronze tables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57200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&gt;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4846320" y="3566160"/>
            <a:ext cx="1874520" cy="11430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846320" y="3566160"/>
            <a:ext cx="18745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1"/>
          <p:cNvSpPr/>
          <p:nvPr/>
        </p:nvSpPr>
        <p:spPr>
          <a:xfrm>
            <a:off x="4937760" y="37033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5349240" y="37033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Auto-discovers PKs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system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720840" y="3931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&gt;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6995160" y="3566160"/>
            <a:ext cx="1874520" cy="114300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995160" y="3566160"/>
            <a:ext cx="18745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6"/>
          <p:cNvSpPr/>
          <p:nvPr/>
        </p:nvSpPr>
        <p:spPr>
          <a:xfrm>
            <a:off x="7086600" y="3703320"/>
            <a:ext cx="320040" cy="3200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7498080" y="370332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+ SCD2 run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&amp; Safety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Two-Tier Logging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822960"/>
        </p:xfrm>
        <a:graphic>
          <a:graphicData uri="http://schemas.openxmlformats.org/drawingml/2006/table">
            <a:tbl>
              <a:tblPr/>
              <a:tblGrid>
                <a:gridCol w="2286000"/>
                <a:gridCol w="347472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PipelineEventLog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perf — 1 row/step/table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 detail — Python logs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Debugging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Safety at Billion-Row Scale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83464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944368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Crash Recovery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156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INSERT-first SCD2, per-day checkpointing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383280" y="283464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2944368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8620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Concurrency Protection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388620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sp_getapplock prevents duplicate runs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6217920" y="283464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94436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20840" y="29260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Drift Detection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720840" y="32461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new/removed columns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48640" y="38862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995928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NULL PK Filtering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051560" y="4297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and excluded from CDC/SCD2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383280" y="38862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3995928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388620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Column Order Enforcement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3886200" y="4297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BCP CSV always matches target ordinals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217920" y="38862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995928"/>
            <a:ext cx="320040" cy="3200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720840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Reconciliation Strategies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6720840" y="42976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collision, velocity, distribution shift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7680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203911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2423160"/>
            <a:ext cx="1371600" cy="150876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423160"/>
            <a:ext cx="13716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Pipeline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CDC + SCD2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2039112"/>
            <a:ext cx="182880" cy="1828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 2026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2423160"/>
            <a:ext cx="1371600" cy="150876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06040" y="2423160"/>
            <a:ext cx="13716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Source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9748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DNA, CCM, Epicor,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Files live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2039112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 2026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26280" y="2423160"/>
            <a:ext cx="1371600" cy="150876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26280" y="2423160"/>
            <a:ext cx="1371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617720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Retired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1772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 box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2039112"/>
            <a:ext cx="182880" cy="1828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46520" y="2423160"/>
            <a:ext cx="1371600" cy="1508760"/>
          </a:xfrm>
          <a:prstGeom prst="rect">
            <a:avLst/>
          </a:prstGeom>
          <a:solidFill>
            <a:srgbClr val="162A40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46520" y="2423160"/>
            <a:ext cx="1371600" cy="3657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254203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306324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Streaming, recon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0B3D36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22452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Scheduling: Automic triggers the Python scripts on our RHEL server (daily/hourly). No custom Automic logic — pipeline handles everything internally.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50292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043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Engineers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178308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Metadata-driven: add a table = 1 config row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uses deterministic hashing, not timestamps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INSERT-first SCD2: unconventional but crash-safe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09728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337560" y="1097280"/>
            <a:ext cx="2651760" cy="50292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170432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Analysts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474720" y="178308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Silver/Gold layers untouched — your SQL works as before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now has full SCD2 history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ROW_NUMBER() for safest current-row queries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109728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1097280"/>
            <a:ext cx="2651760" cy="50292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70432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11704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Managers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355080" y="178308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CData eliminated by mid-April 2026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Automic scheduling — no manual intervention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 via PipelineEventLog dashboards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4864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technical reference available on Confluence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0"/>
            <a:ext cx="36576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reference on Confluence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prefix traceability  |  TODO audit status  |  Q&amp;A appendix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3840480"/>
            <a:ext cx="457200" cy="4572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840480"/>
            <a:ext cx="457200" cy="4572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840480"/>
            <a:ext cx="457200" cy="4572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8404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UDM Pipeline — Replacing CData</dc:title>
  <dc:subject>PptxGenJS Presentation</dc:subject>
  <dc:creator>UDM Pipeline Team</dc:creator>
  <cp:lastModifiedBy>UDM Pipeline Team</cp:lastModifiedBy>
  <cp:revision>1</cp:revision>
  <dcterms:created xsi:type="dcterms:W3CDTF">2026-03-04T20:29:19Z</dcterms:created>
  <dcterms:modified xsi:type="dcterms:W3CDTF">2026-03-04T20:29:19Z</dcterms:modified>
</cp:coreProperties>
</file>